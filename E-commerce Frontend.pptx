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76" r:id="rId4"/>
    <p:sldId id="277" r:id="rId5"/>
    <p:sldId id="278" r:id="rId6"/>
    <p:sldId id="279" r:id="rId7"/>
    <p:sldId id="280" r:id="rId8"/>
    <p:sldId id="281" r:id="rId9"/>
    <p:sldId id="282" r:id="rId10"/>
    <p:sldId id="27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2811D-EAFD-48AB-A0A5-3A5F242ACB66}" type="datetimeFigureOut">
              <a:rPr lang="en-GB" smtClean="0"/>
              <a:t>26/11/2025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BEEDA-979A-4D6A-B405-6ED23DF711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57161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2811D-EAFD-48AB-A0A5-3A5F242ACB66}" type="datetimeFigureOut">
              <a:rPr lang="en-GB" smtClean="0"/>
              <a:t>26/11/2025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BEEDA-979A-4D6A-B405-6ED23DF711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5622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2811D-EAFD-48AB-A0A5-3A5F242ACB66}" type="datetimeFigureOut">
              <a:rPr lang="en-GB" smtClean="0"/>
              <a:t>26/11/2025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BEEDA-979A-4D6A-B405-6ED23DF711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37797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2811D-EAFD-48AB-A0A5-3A5F242ACB66}" type="datetimeFigureOut">
              <a:rPr lang="en-GB" smtClean="0"/>
              <a:t>26/11/2025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BEEDA-979A-4D6A-B405-6ED23DF711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4912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2811D-EAFD-48AB-A0A5-3A5F242ACB66}" type="datetimeFigureOut">
              <a:rPr lang="en-GB" smtClean="0"/>
              <a:t>26/11/2025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BEEDA-979A-4D6A-B405-6ED23DF711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19859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2811D-EAFD-48AB-A0A5-3A5F242ACB66}" type="datetimeFigureOut">
              <a:rPr lang="en-GB" smtClean="0"/>
              <a:t>26/11/2025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BEEDA-979A-4D6A-B405-6ED23DF711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2793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2811D-EAFD-48AB-A0A5-3A5F242ACB66}" type="datetimeFigureOut">
              <a:rPr lang="en-GB" smtClean="0"/>
              <a:t>26/11/2025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BEEDA-979A-4D6A-B405-6ED23DF711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70518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2811D-EAFD-48AB-A0A5-3A5F242ACB66}" type="datetimeFigureOut">
              <a:rPr lang="en-GB" smtClean="0"/>
              <a:t>26/11/2025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BEEDA-979A-4D6A-B405-6ED23DF711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55911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2811D-EAFD-48AB-A0A5-3A5F242ACB66}" type="datetimeFigureOut">
              <a:rPr lang="en-GB" smtClean="0"/>
              <a:t>26/11/2025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BEEDA-979A-4D6A-B405-6ED23DF711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7928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2811D-EAFD-48AB-A0A5-3A5F242ACB66}" type="datetimeFigureOut">
              <a:rPr lang="en-GB" smtClean="0"/>
              <a:t>26/11/2025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BEEDA-979A-4D6A-B405-6ED23DF711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8226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2811D-EAFD-48AB-A0A5-3A5F242ACB66}" type="datetimeFigureOut">
              <a:rPr lang="en-GB" smtClean="0"/>
              <a:t>26/11/2025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BEEDA-979A-4D6A-B405-6ED23DF7111A}" type="slidenum">
              <a:rPr lang="en-GB" smtClean="0"/>
              <a:t>‹#›</a:t>
            </a:fld>
            <a:endParaRPr lang="en-GB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112803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2811D-EAFD-48AB-A0A5-3A5F242ACB66}" type="datetimeFigureOut">
              <a:rPr lang="en-GB" smtClean="0"/>
              <a:t>26/11/2025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BEEDA-979A-4D6A-B405-6ED23DF711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66208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2811D-EAFD-48AB-A0A5-3A5F242ACB66}" type="datetimeFigureOut">
              <a:rPr lang="en-GB" smtClean="0"/>
              <a:t>26/11/2025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BEEDA-979A-4D6A-B405-6ED23DF7111A}" type="slidenum">
              <a:rPr lang="en-GB" smtClean="0"/>
              <a:t>‹#›</a:t>
            </a:fld>
            <a:endParaRPr lang="en-GB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80595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2811D-EAFD-48AB-A0A5-3A5F242ACB66}" type="datetimeFigureOut">
              <a:rPr lang="en-GB" smtClean="0"/>
              <a:t>26/11/2025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BEEDA-979A-4D6A-B405-6ED23DF711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32328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2811D-EAFD-48AB-A0A5-3A5F242ACB66}" type="datetimeFigureOut">
              <a:rPr lang="en-GB" smtClean="0"/>
              <a:t>26/11/2025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BEEDA-979A-4D6A-B405-6ED23DF711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3144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2811D-EAFD-48AB-A0A5-3A5F242ACB66}" type="datetimeFigureOut">
              <a:rPr lang="en-GB" smtClean="0"/>
              <a:t>26/11/2025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BEEDA-979A-4D6A-B405-6ED23DF711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43607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92811D-EAFD-48AB-A0A5-3A5F242ACB66}" type="datetimeFigureOut">
              <a:rPr lang="en-GB" smtClean="0"/>
              <a:t>26/11/2025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743BEEDA-979A-4D6A-B405-6ED23DF711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2638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3B292-6FBC-CE5F-6459-016C656099F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E-commerce Frontend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127651-7153-BF3E-259F-DA9D5A4B7D2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65274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8CA6F-69D7-46C5-63FE-113BB918B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1. Project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04557-7B1A-4F16-935F-A26CE5B589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0824" y="1335385"/>
            <a:ext cx="6943178" cy="5152074"/>
          </a:xfrm>
        </p:spPr>
        <p:txBody>
          <a:bodyPr>
            <a:normAutofit/>
          </a:bodyPr>
          <a:lstStyle/>
          <a:p>
            <a:r>
              <a:rPr lang="en-GB" dirty="0"/>
              <a:t>Separation of Concerns</a:t>
            </a:r>
          </a:p>
          <a:p>
            <a:pPr lvl="1"/>
            <a:r>
              <a:rPr lang="en-GB" dirty="0"/>
              <a:t>Services: Handle all API communication (</a:t>
            </a:r>
            <a:r>
              <a:rPr lang="en-GB" dirty="0" err="1"/>
              <a:t>productService</a:t>
            </a:r>
            <a:r>
              <a:rPr lang="en-GB" dirty="0"/>
              <a:t>, </a:t>
            </a:r>
            <a:r>
              <a:rPr lang="en-GB" dirty="0" err="1"/>
              <a:t>categoryService</a:t>
            </a:r>
            <a:r>
              <a:rPr lang="en-GB" dirty="0"/>
              <a:t>)</a:t>
            </a:r>
          </a:p>
          <a:p>
            <a:pPr lvl="1"/>
            <a:r>
              <a:rPr lang="en-GB" dirty="0"/>
              <a:t>Custom Hooks: Encapsulate business logic (</a:t>
            </a:r>
            <a:r>
              <a:rPr lang="en-GB" dirty="0" err="1"/>
              <a:t>useProducts</a:t>
            </a:r>
            <a:r>
              <a:rPr lang="en-GB" dirty="0"/>
              <a:t>, </a:t>
            </a:r>
            <a:r>
              <a:rPr lang="en-GB" dirty="0" err="1"/>
              <a:t>useProductForm</a:t>
            </a:r>
            <a:r>
              <a:rPr lang="en-GB" dirty="0"/>
              <a:t>)</a:t>
            </a:r>
          </a:p>
          <a:p>
            <a:pPr lvl="1"/>
            <a:r>
              <a:rPr lang="en-GB" dirty="0"/>
              <a:t>Components: Focused on presentation and user interaction</a:t>
            </a:r>
          </a:p>
          <a:p>
            <a:pPr lvl="1"/>
            <a:r>
              <a:rPr lang="en-GB" dirty="0"/>
              <a:t>Pages: Container components that coordinate data flow</a:t>
            </a:r>
          </a:p>
          <a:p>
            <a:r>
              <a:rPr lang="en-GB" dirty="0"/>
              <a:t>Reusability</a:t>
            </a:r>
          </a:p>
          <a:p>
            <a:pPr lvl="1"/>
            <a:r>
              <a:rPr lang="en-GB" dirty="0" err="1"/>
              <a:t>ProductForm</a:t>
            </a:r>
            <a:r>
              <a:rPr lang="en-GB" dirty="0"/>
              <a:t> supports both create and edit modes</a:t>
            </a:r>
          </a:p>
          <a:p>
            <a:pPr lvl="1"/>
            <a:r>
              <a:rPr lang="en-GB" dirty="0" err="1"/>
              <a:t>useProductForm</a:t>
            </a:r>
            <a:r>
              <a:rPr lang="en-GB" dirty="0"/>
              <a:t> hook encapsulates form logic independent of component</a:t>
            </a:r>
          </a:p>
          <a:p>
            <a:pPr lvl="1"/>
            <a:r>
              <a:rPr lang="en-GB" dirty="0" err="1"/>
              <a:t>ProductList</a:t>
            </a:r>
            <a:r>
              <a:rPr lang="en-GB" dirty="0"/>
              <a:t> handles search, pagination, and CRUD UI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446897-8510-AE66-EA53-E05D22686B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1335385"/>
            <a:ext cx="1653490" cy="5152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6410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A570C5-4728-7104-D384-2EC3AFA0C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43E29-65BD-0075-E276-0DEF54DDB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26141"/>
          </a:xfrm>
        </p:spPr>
        <p:txBody>
          <a:bodyPr/>
          <a:lstStyle/>
          <a:p>
            <a:r>
              <a:rPr lang="en-GB" b="1" dirty="0"/>
              <a:t>2. UI Layout &amp; Design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51B9D9-42E3-9E9C-F4E1-2677CA4962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35742"/>
            <a:ext cx="8596668" cy="5151718"/>
          </a:xfrm>
        </p:spPr>
        <p:txBody>
          <a:bodyPr>
            <a:normAutofit fontScale="92500" lnSpcReduction="10000"/>
          </a:bodyPr>
          <a:lstStyle/>
          <a:p>
            <a:r>
              <a:rPr lang="en-GB" b="1" dirty="0"/>
              <a:t>Framework: </a:t>
            </a:r>
            <a:r>
              <a:rPr lang="en-GB" dirty="0"/>
              <a:t>Material-UI (MUI) v7.3.5</a:t>
            </a:r>
          </a:p>
          <a:p>
            <a:r>
              <a:rPr lang="en-GB" b="1" dirty="0"/>
              <a:t>Key Components Used:</a:t>
            </a:r>
          </a:p>
          <a:p>
            <a:pPr lvl="1"/>
            <a:r>
              <a:rPr lang="en-GB" dirty="0"/>
              <a:t>Container: Responsive page layout</a:t>
            </a:r>
          </a:p>
          <a:p>
            <a:pPr lvl="1"/>
            <a:r>
              <a:rPr lang="en-GB" dirty="0"/>
              <a:t>Card, </a:t>
            </a:r>
            <a:r>
              <a:rPr lang="en-GB" dirty="0" err="1"/>
              <a:t>CardContent</a:t>
            </a:r>
            <a:r>
              <a:rPr lang="en-GB" dirty="0"/>
              <a:t>, </a:t>
            </a:r>
            <a:r>
              <a:rPr lang="en-GB" dirty="0" err="1"/>
              <a:t>CardMedia</a:t>
            </a:r>
            <a:r>
              <a:rPr lang="en-GB" dirty="0"/>
              <a:t>: Product cards</a:t>
            </a:r>
          </a:p>
          <a:p>
            <a:pPr lvl="1"/>
            <a:r>
              <a:rPr lang="en-GB" dirty="0" err="1"/>
              <a:t>TextField</a:t>
            </a:r>
            <a:r>
              <a:rPr lang="en-GB" dirty="0"/>
              <a:t>: Form inputs with validation</a:t>
            </a:r>
          </a:p>
          <a:p>
            <a:pPr lvl="1"/>
            <a:r>
              <a:rPr lang="en-GB" dirty="0"/>
              <a:t>Button: Actions and navigation</a:t>
            </a:r>
          </a:p>
          <a:p>
            <a:pPr lvl="1"/>
            <a:r>
              <a:rPr lang="en-GB" dirty="0"/>
              <a:t>Dialog: Delete confirmation, modals</a:t>
            </a:r>
          </a:p>
          <a:p>
            <a:pPr lvl="1"/>
            <a:r>
              <a:rPr lang="en-GB" dirty="0"/>
              <a:t>Pagination: Server-side pagination</a:t>
            </a:r>
          </a:p>
          <a:p>
            <a:pPr lvl="1"/>
            <a:r>
              <a:rPr lang="en-GB" dirty="0"/>
              <a:t>Skeleton: Loading states</a:t>
            </a:r>
          </a:p>
          <a:p>
            <a:pPr lvl="1"/>
            <a:r>
              <a:rPr lang="en-GB" dirty="0"/>
              <a:t>Paper: Visual containers</a:t>
            </a:r>
          </a:p>
          <a:p>
            <a:r>
              <a:rPr lang="en-GB" b="1" dirty="0"/>
              <a:t>Key Layout Features:</a:t>
            </a:r>
            <a:endParaRPr lang="en-GB" dirty="0"/>
          </a:p>
          <a:p>
            <a:pPr lvl="1"/>
            <a:r>
              <a:rPr lang="en-GB" dirty="0"/>
              <a:t>Responsive grid that adapts from mobile to desktop</a:t>
            </a:r>
          </a:p>
          <a:p>
            <a:pPr lvl="1"/>
            <a:r>
              <a:rPr lang="en-GB" dirty="0"/>
              <a:t>Flexbox for alignment and spacing</a:t>
            </a:r>
          </a:p>
          <a:p>
            <a:pPr lvl="1"/>
            <a:r>
              <a:rPr lang="en-GB" dirty="0"/>
              <a:t>Theme-consistent </a:t>
            </a:r>
            <a:r>
              <a:rPr lang="en-GB" dirty="0" err="1"/>
              <a:t>colors</a:t>
            </a:r>
            <a:r>
              <a:rPr lang="en-GB" dirty="0"/>
              <a:t> and spacing</a:t>
            </a:r>
          </a:p>
          <a:p>
            <a:pPr lvl="1"/>
            <a:r>
              <a:rPr lang="en-GB" dirty="0"/>
              <a:t>Built-in dark/light mode support via MUI theme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588426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F374EE-F4F6-A246-2B37-9C70A521C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8782B-37B9-B962-1A90-BD542F1A6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89529"/>
          </a:xfrm>
        </p:spPr>
        <p:txBody>
          <a:bodyPr/>
          <a:lstStyle/>
          <a:p>
            <a:r>
              <a:rPr lang="en-GB" b="1" dirty="0"/>
              <a:t>2. UI Layout &amp; Design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7D15D-2541-559A-E9CF-6689BC1020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99129"/>
            <a:ext cx="8596668" cy="4488331"/>
          </a:xfrm>
        </p:spPr>
        <p:txBody>
          <a:bodyPr>
            <a:normAutofit/>
          </a:bodyPr>
          <a:lstStyle/>
          <a:p>
            <a:r>
              <a:rPr lang="en-GB" b="1" dirty="0"/>
              <a:t>Visual Hierarchy</a:t>
            </a:r>
          </a:p>
          <a:p>
            <a:pPr lvl="1"/>
            <a:r>
              <a:rPr lang="en-GB" dirty="0"/>
              <a:t>Product Cards: Image, Name, Description, Price, Actions</a:t>
            </a:r>
          </a:p>
          <a:p>
            <a:pPr lvl="1"/>
            <a:r>
              <a:rPr lang="en-GB" dirty="0"/>
              <a:t>Forms: Name, Description, Price, Category, Image Upload, Actions</a:t>
            </a:r>
          </a:p>
          <a:p>
            <a:pPr lvl="1"/>
            <a:r>
              <a:rPr lang="en-GB" dirty="0"/>
              <a:t>Search Bar: Prominent search with button control</a:t>
            </a:r>
          </a:p>
          <a:p>
            <a:pPr lvl="1"/>
            <a:r>
              <a:rPr lang="en-GB" dirty="0"/>
              <a:t>Pagination: </a:t>
            </a:r>
            <a:r>
              <a:rPr lang="en-GB" dirty="0" err="1"/>
              <a:t>Centered</a:t>
            </a:r>
            <a:r>
              <a:rPr lang="en-GB" dirty="0"/>
              <a:t> below product grid</a:t>
            </a:r>
          </a:p>
          <a:p>
            <a:pPr lvl="1"/>
            <a:r>
              <a:rPr lang="en-GB" dirty="0"/>
              <a:t>Creation Buttons: Top-right navigation (Create Product, Create Category)</a:t>
            </a:r>
          </a:p>
        </p:txBody>
      </p:sp>
    </p:spTree>
    <p:extLst>
      <p:ext uri="{BB962C8B-B14F-4D97-AF65-F5344CB8AC3E}">
        <p14:creationId xmlns:p14="http://schemas.microsoft.com/office/powerpoint/2010/main" val="48309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AC452-D643-E323-7F08-BEEA4E789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Technology Stack Components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A5FB83-336E-21C9-F552-A665812CA9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61247"/>
            <a:ext cx="8596668" cy="5172635"/>
          </a:xfrm>
        </p:spPr>
        <p:txBody>
          <a:bodyPr>
            <a:normAutofit fontScale="85000" lnSpcReduction="20000"/>
          </a:bodyPr>
          <a:lstStyle/>
          <a:p>
            <a:r>
              <a:rPr lang="en-GB" b="1" dirty="0"/>
              <a:t>State Management: </a:t>
            </a:r>
            <a:r>
              <a:rPr lang="en-GB" dirty="0"/>
              <a:t>Redux Toolkit 2.11.0</a:t>
            </a:r>
          </a:p>
          <a:p>
            <a:pPr lvl="1"/>
            <a:r>
              <a:rPr lang="en-GB" dirty="0"/>
              <a:t>Type-safe state with TypeScript</a:t>
            </a:r>
          </a:p>
          <a:p>
            <a:pPr lvl="1"/>
            <a:r>
              <a:rPr lang="en-GB" dirty="0"/>
              <a:t>Immutable state updates</a:t>
            </a:r>
          </a:p>
          <a:p>
            <a:pPr lvl="1"/>
            <a:r>
              <a:rPr lang="en-GB" dirty="0"/>
              <a:t>Centralized </a:t>
            </a:r>
            <a:r>
              <a:rPr lang="en-GB"/>
              <a:t>state management</a:t>
            </a:r>
          </a:p>
          <a:p>
            <a:pPr lvl="1"/>
            <a:r>
              <a:rPr lang="en-GB"/>
              <a:t>Built-in </a:t>
            </a:r>
            <a:r>
              <a:rPr lang="en-GB" dirty="0"/>
              <a:t>error handling via pending/rejected states</a:t>
            </a:r>
          </a:p>
          <a:p>
            <a:r>
              <a:rPr lang="en-GB" b="1" dirty="0"/>
              <a:t>API Client: </a:t>
            </a:r>
            <a:r>
              <a:rPr lang="en-GB" dirty="0"/>
              <a:t>Axios 1.13.2</a:t>
            </a:r>
          </a:p>
          <a:p>
            <a:pPr lvl="1"/>
            <a:r>
              <a:rPr lang="en-GB" dirty="0"/>
              <a:t>Typed request/response interfaces</a:t>
            </a:r>
          </a:p>
          <a:p>
            <a:pPr lvl="1"/>
            <a:r>
              <a:rPr lang="en-GB" dirty="0" err="1"/>
              <a:t>FormData</a:t>
            </a:r>
            <a:r>
              <a:rPr lang="en-GB" dirty="0"/>
              <a:t> support for multipart image uploads</a:t>
            </a:r>
          </a:p>
          <a:p>
            <a:pPr lvl="1"/>
            <a:r>
              <a:rPr lang="en-GB" dirty="0"/>
              <a:t>Error response handling</a:t>
            </a:r>
          </a:p>
          <a:p>
            <a:r>
              <a:rPr lang="en-GB" b="1" dirty="0"/>
              <a:t>Form Management: </a:t>
            </a:r>
            <a:r>
              <a:rPr lang="en-GB" dirty="0"/>
              <a:t>React Hook Form 7.66.1 + Yup 1.7.1</a:t>
            </a:r>
          </a:p>
          <a:p>
            <a:pPr lvl="1"/>
            <a:r>
              <a:rPr lang="en-GB" dirty="0"/>
              <a:t>Enhance performance by minimal re-renders</a:t>
            </a:r>
          </a:p>
          <a:p>
            <a:pPr lvl="1"/>
            <a:r>
              <a:rPr lang="en-GB" dirty="0"/>
              <a:t>Simplified and Declarative Validation</a:t>
            </a:r>
          </a:p>
          <a:p>
            <a:pPr lvl="1"/>
            <a:r>
              <a:rPr lang="en-GB" dirty="0"/>
              <a:t>Centralized Validation Logic</a:t>
            </a:r>
          </a:p>
          <a:p>
            <a:r>
              <a:rPr lang="en-GB" b="1" dirty="0"/>
              <a:t>Routing:</a:t>
            </a:r>
            <a:r>
              <a:rPr lang="en-GB" dirty="0"/>
              <a:t> React Router 7.1.0</a:t>
            </a:r>
          </a:p>
          <a:p>
            <a:pPr lvl="1"/>
            <a:r>
              <a:rPr lang="en-GB" dirty="0"/>
              <a:t>Dynamic and Nested Routing</a:t>
            </a:r>
          </a:p>
          <a:p>
            <a:pPr lvl="1"/>
            <a:r>
              <a:rPr lang="en-GB" dirty="0"/>
              <a:t>URL-Based Component Rendering and Management</a:t>
            </a:r>
          </a:p>
          <a:p>
            <a:pPr lvl="1"/>
            <a:r>
              <a:rPr lang="en-GB" dirty="0"/>
              <a:t>Lazy loading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09562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FC07D-EE69-E9B4-EE95-5FB6884B9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4. API &amp; Data Handling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219E0-9CE6-735E-1153-6E87448698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Frontend Validation (Client-side):</a:t>
            </a:r>
          </a:p>
          <a:p>
            <a:pPr lvl="1"/>
            <a:r>
              <a:rPr lang="en-GB" dirty="0"/>
              <a:t>React Hook Form captures input</a:t>
            </a:r>
          </a:p>
          <a:p>
            <a:pPr lvl="1"/>
            <a:r>
              <a:rPr lang="en-GB" dirty="0"/>
              <a:t>Yup schema validates data types and constraints</a:t>
            </a:r>
          </a:p>
          <a:p>
            <a:pPr lvl="1"/>
            <a:r>
              <a:rPr lang="en-GB" dirty="0"/>
              <a:t>Error messages displayed inline below fields</a:t>
            </a:r>
          </a:p>
          <a:p>
            <a:pPr lvl="1"/>
            <a:r>
              <a:rPr lang="en-GB" dirty="0"/>
              <a:t>Submit button disabled if form invalid</a:t>
            </a:r>
          </a:p>
          <a:p>
            <a:r>
              <a:rPr lang="en-GB" dirty="0"/>
              <a:t>Image Handling:</a:t>
            </a:r>
          </a:p>
          <a:p>
            <a:pPr lvl="1"/>
            <a:r>
              <a:rPr lang="en-GB" dirty="0"/>
              <a:t>File input captures image file</a:t>
            </a:r>
          </a:p>
          <a:p>
            <a:pPr lvl="1"/>
            <a:r>
              <a:rPr lang="en-GB" dirty="0" err="1"/>
              <a:t>FileReader</a:t>
            </a:r>
            <a:r>
              <a:rPr lang="en-GB" dirty="0"/>
              <a:t> converts to base64 for preview</a:t>
            </a:r>
          </a:p>
          <a:p>
            <a:pPr lvl="1"/>
            <a:r>
              <a:rPr lang="en-GB" dirty="0" err="1"/>
              <a:t>FormData</a:t>
            </a:r>
            <a:r>
              <a:rPr lang="en-GB" dirty="0"/>
              <a:t> object packages file with metadata</a:t>
            </a:r>
          </a:p>
          <a:p>
            <a:pPr lvl="1"/>
            <a:r>
              <a:rPr lang="en-GB" dirty="0"/>
              <a:t>Multipart/form-data sent to backend</a:t>
            </a:r>
          </a:p>
        </p:txBody>
      </p:sp>
    </p:spTree>
    <p:extLst>
      <p:ext uri="{BB962C8B-B14F-4D97-AF65-F5344CB8AC3E}">
        <p14:creationId xmlns:p14="http://schemas.microsoft.com/office/powerpoint/2010/main" val="37941940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B818E-5CDB-496E-D13C-AD0E465C6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5. Performance Optimization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FBD6DF-73B8-147D-83B9-5E751A1F9C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72330"/>
            <a:ext cx="8596668" cy="860517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Code Splitting &amp; Lazy Loading</a:t>
            </a:r>
          </a:p>
          <a:p>
            <a:r>
              <a:rPr lang="en-GB" dirty="0" err="1"/>
              <a:t>React.lazy</a:t>
            </a:r>
            <a:r>
              <a:rPr lang="en-GB" dirty="0"/>
              <a:t>() for Route-based Code Splitting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A3D531-B82D-6659-A2CD-F0C23C17B6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2897793"/>
            <a:ext cx="6030167" cy="685896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4D3B89F-CDD8-E404-3748-750A5ADCCD94}"/>
              </a:ext>
            </a:extLst>
          </p:cNvPr>
          <p:cNvSpPr txBox="1">
            <a:spLocks/>
          </p:cNvSpPr>
          <p:nvPr/>
        </p:nvSpPr>
        <p:spPr>
          <a:xfrm>
            <a:off x="677334" y="3729412"/>
            <a:ext cx="8596668" cy="173905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dirty="0"/>
              <a:t>Benefits:</a:t>
            </a:r>
          </a:p>
          <a:p>
            <a:r>
              <a:rPr lang="en-GB" dirty="0"/>
              <a:t>Initial bundle size reduced</a:t>
            </a:r>
          </a:p>
          <a:p>
            <a:r>
              <a:rPr lang="en-GB" dirty="0"/>
              <a:t>Faster First </a:t>
            </a:r>
            <a:r>
              <a:rPr lang="en-GB" dirty="0" err="1"/>
              <a:t>Contentful</a:t>
            </a:r>
            <a:r>
              <a:rPr lang="en-GB" dirty="0"/>
              <a:t> Paint (FCP)</a:t>
            </a:r>
          </a:p>
          <a:p>
            <a:r>
              <a:rPr lang="en-GB" dirty="0"/>
              <a:t>Subsequent chunks loaded on navigation</a:t>
            </a:r>
          </a:p>
          <a:p>
            <a:pPr marL="0" indent="0">
              <a:buNone/>
            </a:pPr>
            <a:r>
              <a:rPr lang="en-GB" dirty="0"/>
              <a:t>Suspense Fallback provides smooth loading indicator while code chunks load.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160871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ACB95-CE45-11EB-CD5C-E907A7BD6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69576"/>
          </a:xfrm>
        </p:spPr>
        <p:txBody>
          <a:bodyPr/>
          <a:lstStyle/>
          <a:p>
            <a:r>
              <a:rPr lang="en-GB" dirty="0"/>
              <a:t>5. Performance Optimization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61F170-B1F5-EB4C-9DE8-322F41158E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79177"/>
            <a:ext cx="8596668" cy="4948518"/>
          </a:xfrm>
        </p:spPr>
        <p:txBody>
          <a:bodyPr>
            <a:normAutofit/>
          </a:bodyPr>
          <a:lstStyle/>
          <a:p>
            <a:r>
              <a:rPr lang="en-GB" dirty="0"/>
              <a:t>Server-Side Pagination</a:t>
            </a:r>
          </a:p>
          <a:p>
            <a:pPr lvl="1"/>
            <a:r>
              <a:rPr lang="en-GB" b="1" dirty="0"/>
              <a:t>Problem Avoided: </a:t>
            </a:r>
            <a:r>
              <a:rPr lang="en-GB" dirty="0"/>
              <a:t>Loading all (1000+) products into memory</a:t>
            </a:r>
          </a:p>
          <a:p>
            <a:pPr lvl="1"/>
            <a:r>
              <a:rPr lang="en-GB" b="1" dirty="0"/>
              <a:t>Solution: </a:t>
            </a:r>
            <a:r>
              <a:rPr lang="en-GB" dirty="0"/>
              <a:t>Backend returns only current page (10 items default)</a:t>
            </a:r>
          </a:p>
          <a:p>
            <a:r>
              <a:rPr lang="en-GB" dirty="0"/>
              <a:t>Base64 Encoding:</a:t>
            </a:r>
          </a:p>
          <a:p>
            <a:pPr lvl="1"/>
            <a:r>
              <a:rPr lang="en-GB" dirty="0"/>
              <a:t>Backend converts image files to base64</a:t>
            </a:r>
          </a:p>
          <a:p>
            <a:pPr lvl="1"/>
            <a:r>
              <a:rPr lang="en-GB" dirty="0"/>
              <a:t>Transmitted as string in JSON response</a:t>
            </a:r>
          </a:p>
          <a:p>
            <a:pPr lvl="1"/>
            <a:r>
              <a:rPr lang="en-GB" dirty="0"/>
              <a:t>Displayed directly in </a:t>
            </a:r>
            <a:r>
              <a:rPr lang="en-GB" dirty="0" err="1"/>
              <a:t>img</a:t>
            </a:r>
            <a:r>
              <a:rPr lang="en-GB" dirty="0"/>
              <a:t> </a:t>
            </a:r>
            <a:r>
              <a:rPr lang="en-GB" dirty="0" err="1"/>
              <a:t>src</a:t>
            </a:r>
            <a:endParaRPr lang="en-GB" dirty="0"/>
          </a:p>
          <a:p>
            <a:r>
              <a:rPr lang="en-GB" dirty="0"/>
              <a:t>API Error Handling:</a:t>
            </a:r>
          </a:p>
          <a:p>
            <a:pPr lvl="1"/>
            <a:r>
              <a:rPr lang="en-GB" dirty="0"/>
              <a:t>Loading skeletons while fetching</a:t>
            </a:r>
          </a:p>
          <a:p>
            <a:pPr lvl="1"/>
            <a:r>
              <a:rPr lang="en-GB" dirty="0"/>
              <a:t>Error states with actionable messages</a:t>
            </a:r>
          </a:p>
          <a:p>
            <a:pPr lvl="1"/>
            <a:r>
              <a:rPr lang="en-GB" dirty="0"/>
              <a:t>Disabled buttons prevent duplicate submissions</a:t>
            </a:r>
          </a:p>
          <a:p>
            <a:pPr lvl="1"/>
            <a:r>
              <a:rPr lang="en-GB" dirty="0"/>
              <a:t>Delete confirmation prevents accidental deletion</a:t>
            </a:r>
          </a:p>
        </p:txBody>
      </p:sp>
    </p:spTree>
    <p:extLst>
      <p:ext uri="{BB962C8B-B14F-4D97-AF65-F5344CB8AC3E}">
        <p14:creationId xmlns:p14="http://schemas.microsoft.com/office/powerpoint/2010/main" val="29230508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D0BD2-789A-30B7-F608-7EFFD0998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6. Setup Instructions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0D66FD-B037-1A2B-BFEA-EE32989A22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1882493"/>
          </a:xfrm>
        </p:spPr>
        <p:txBody>
          <a:bodyPr>
            <a:normAutofit/>
          </a:bodyPr>
          <a:lstStyle/>
          <a:p>
            <a:pPr>
              <a:buFont typeface="+mj-lt"/>
              <a:buAutoNum type="arabicPeriod"/>
            </a:pPr>
            <a:r>
              <a:rPr lang="en-GB" dirty="0"/>
              <a:t>Clone the repository and run </a:t>
            </a:r>
            <a:r>
              <a:rPr lang="en-GB" i="1" dirty="0" err="1">
                <a:solidFill>
                  <a:schemeClr val="bg2">
                    <a:lumMod val="75000"/>
                  </a:schemeClr>
                </a:solidFill>
              </a:rPr>
              <a:t>npm</a:t>
            </a:r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en-GB" i="1" dirty="0" err="1">
                <a:solidFill>
                  <a:schemeClr val="bg2">
                    <a:lumMod val="75000"/>
                  </a:schemeClr>
                </a:solidFill>
              </a:rPr>
              <a:t>i</a:t>
            </a:r>
            <a:r>
              <a:rPr lang="en-GB" dirty="0"/>
              <a:t> to install dependencies</a:t>
            </a:r>
          </a:p>
          <a:p>
            <a:pPr>
              <a:buFont typeface="+mj-lt"/>
              <a:buAutoNum type="arabicPeriod"/>
            </a:pPr>
            <a:r>
              <a:rPr lang="en-GB" dirty="0"/>
              <a:t>Run </a:t>
            </a:r>
            <a:r>
              <a:rPr lang="en-GB" i="1" dirty="0" err="1">
                <a:solidFill>
                  <a:schemeClr val="bg2">
                    <a:lumMod val="75000"/>
                  </a:schemeClr>
                </a:solidFill>
              </a:rPr>
              <a:t>npm</a:t>
            </a:r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 run dev</a:t>
            </a:r>
            <a:r>
              <a:rPr lang="en-GB" dirty="0"/>
              <a:t> to start hosting it to port 5173</a:t>
            </a:r>
          </a:p>
          <a:p>
            <a:pPr>
              <a:buFont typeface="+mj-lt"/>
              <a:buAutoNum type="arabicPeriod"/>
            </a:pPr>
            <a:r>
              <a:rPr lang="en-GB" dirty="0"/>
              <a:t>The backend needs to be running while hosting the frontend, otherwise it will show error page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958079-3460-0DA6-8CD6-A2C007B72C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333" y="3823796"/>
            <a:ext cx="8158669" cy="2191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86515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3355D-484C-FE54-A3AC-8D938F2C6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7. Future Improvements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A3972A-A635-497B-A44A-9A3C3DEA41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Category management</a:t>
            </a:r>
          </a:p>
          <a:p>
            <a:r>
              <a:rPr lang="en-GB" dirty="0"/>
              <a:t>Category selection in product form</a:t>
            </a:r>
          </a:p>
          <a:p>
            <a:r>
              <a:rPr lang="en-GB" dirty="0"/>
              <a:t>Inventory management</a:t>
            </a:r>
          </a:p>
          <a:p>
            <a:r>
              <a:rPr lang="en-GB" dirty="0"/>
              <a:t>Image caching/compression/cropping/thumbnail generation</a:t>
            </a:r>
          </a:p>
          <a:p>
            <a:r>
              <a:rPr lang="en-GB" dirty="0"/>
              <a:t>Add authentication &amp; authorization</a:t>
            </a:r>
          </a:p>
          <a:p>
            <a:r>
              <a:rPr lang="en-GB" dirty="0"/>
              <a:t>Advanced filtering, sorting options</a:t>
            </a:r>
          </a:p>
        </p:txBody>
      </p:sp>
    </p:spTree>
    <p:extLst>
      <p:ext uri="{BB962C8B-B14F-4D97-AF65-F5344CB8AC3E}">
        <p14:creationId xmlns:p14="http://schemas.microsoft.com/office/powerpoint/2010/main" val="44516899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224</TotalTime>
  <Words>561</Words>
  <Application>Microsoft Office PowerPoint</Application>
  <PresentationFormat>Widescreen</PresentationFormat>
  <Paragraphs>95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Trebuchet MS</vt:lpstr>
      <vt:lpstr>Wingdings 3</vt:lpstr>
      <vt:lpstr>Facet</vt:lpstr>
      <vt:lpstr>E-commerce Frontend</vt:lpstr>
      <vt:lpstr>1. Project Structure</vt:lpstr>
      <vt:lpstr>2. UI Layout &amp; Design System</vt:lpstr>
      <vt:lpstr>2. UI Layout &amp; Design System</vt:lpstr>
      <vt:lpstr>3. Technology Stack Components</vt:lpstr>
      <vt:lpstr>4. API &amp; Data Handling</vt:lpstr>
      <vt:lpstr>5. Performance Optimization</vt:lpstr>
      <vt:lpstr>5. Performance Optimization</vt:lpstr>
      <vt:lpstr>6. Setup Instructions</vt:lpstr>
      <vt:lpstr>7. Future Improvements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Đặng Phương Tân</dc:creator>
  <cp:lastModifiedBy>Đặng Phương Tân</cp:lastModifiedBy>
  <cp:revision>70</cp:revision>
  <dcterms:created xsi:type="dcterms:W3CDTF">2025-11-26T09:22:34Z</dcterms:created>
  <dcterms:modified xsi:type="dcterms:W3CDTF">2025-11-26T13:25:43Z</dcterms:modified>
</cp:coreProperties>
</file>